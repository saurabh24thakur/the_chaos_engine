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0B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7C3AED">
              <a:alpha val="80000"/>
            </a:srgbClr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875520" y="-914400"/>
            <a:ext cx="3291840" cy="3291840"/>
          </a:xfrm>
          <a:prstGeom prst="ellipse">
            <a:avLst/>
          </a:prstGeom>
          <a:solidFill>
            <a:srgbClr val="22D3EE">
              <a:alpha val="16000"/>
            </a:srgbClr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731520" y="5166360"/>
            <a:ext cx="2468880" cy="2468880"/>
          </a:xfrm>
          <a:prstGeom prst="ellipse">
            <a:avLst/>
          </a:prstGeom>
          <a:solidFill>
            <a:srgbClr val="7C3AED">
              <a:alpha val="12000"/>
            </a:srgbClr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6400800"/>
            <a:ext cx="10881360" cy="0"/>
          </a:xfrm>
          <a:prstGeom prst="line">
            <a:avLst/>
          </a:prstGeom>
          <a:noFill/>
          <a:ln w="12700">
            <a:solidFill>
              <a:srgbClr val="2A2A38">
                <a:alpha val="6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13232" y="768096"/>
            <a:ext cx="1828800" cy="420624"/>
          </a:xfrm>
          <a:prstGeom prst="roundRect">
            <a:avLst>
              <a:gd name="adj" fmla="val 39130"/>
            </a:avLst>
          </a:prstGeom>
          <a:solidFill>
            <a:srgbClr val="171722"/>
          </a:solidFill>
          <a:ln w="12700">
            <a:solidFill>
              <a:srgbClr val="7C3AED">
                <a:alpha val="7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13232" y="813816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2D3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PRESENTATION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13232" y="1389888"/>
            <a:ext cx="81838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Understanding Docker: Containerization Explained</a:t>
            </a:r>
            <a:endParaRPr lang="en-US" sz="3100" dirty="0"/>
          </a:p>
        </p:txBody>
      </p:sp>
      <p:sp>
        <p:nvSpPr>
          <p:cNvPr id="9" name="Text 7"/>
          <p:cNvSpPr/>
          <p:nvPr/>
        </p:nvSpPr>
        <p:spPr>
          <a:xfrm>
            <a:off x="749808" y="2697480"/>
            <a:ext cx="7086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A1A1A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Modern, structured slides generated automatically.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49808" y="3456432"/>
            <a:ext cx="2011680" cy="0"/>
          </a:xfrm>
          <a:prstGeom prst="line">
            <a:avLst/>
          </a:prstGeom>
          <a:noFill/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49808" y="3630168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171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Generated by Chaos Engine • 7 slides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749808" y="4160520"/>
            <a:ext cx="2240280" cy="1097280"/>
          </a:xfrm>
          <a:prstGeom prst="roundRect">
            <a:avLst>
              <a:gd name="adj" fmla="val 15000"/>
            </a:avLst>
          </a:prstGeom>
          <a:solidFill>
            <a:srgbClr val="171722"/>
          </a:solidFill>
          <a:ln w="12700">
            <a:solidFill>
              <a:srgbClr val="2A2A38">
                <a:alpha val="8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49808" y="4160520"/>
            <a:ext cx="2240280" cy="7315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86968" y="4407408"/>
            <a:ext cx="1920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Essence of Docker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264408" y="4160520"/>
            <a:ext cx="2240280" cy="1097280"/>
          </a:xfrm>
          <a:prstGeom prst="roundRect">
            <a:avLst>
              <a:gd name="adj" fmla="val 15000"/>
            </a:avLst>
          </a:prstGeom>
          <a:solidFill>
            <a:srgbClr val="1E1E2B"/>
          </a:solidFill>
          <a:ln w="12700">
            <a:solidFill>
              <a:srgbClr val="2A2A38">
                <a:alpha val="8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64408" y="4160520"/>
            <a:ext cx="2240280" cy="73152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401568" y="4407408"/>
            <a:ext cx="1920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Docker Engine: Core Components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779008" y="4160520"/>
            <a:ext cx="2240280" cy="1097280"/>
          </a:xfrm>
          <a:prstGeom prst="roundRect">
            <a:avLst>
              <a:gd name="adj" fmla="val 15000"/>
            </a:avLst>
          </a:prstGeom>
          <a:solidFill>
            <a:srgbClr val="1E1E2B"/>
          </a:solidFill>
          <a:ln w="12700">
            <a:solidFill>
              <a:srgbClr val="2A2A38">
                <a:alpha val="8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779008" y="4160520"/>
            <a:ext cx="2240280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16168" y="4407408"/>
            <a:ext cx="1920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Docker Images: The Application Blueprint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9308592" y="530352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2D3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PowerPoint output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8915400" y="1325880"/>
            <a:ext cx="2331720" cy="2331720"/>
          </a:xfrm>
          <a:prstGeom prst="ellipse">
            <a:avLst/>
          </a:prstGeom>
          <a:solidFill>
            <a:srgbClr val="171722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464040" y="1874520"/>
            <a:ext cx="1234440" cy="1234440"/>
          </a:xfrm>
          <a:prstGeom prst="ellipse">
            <a:avLst/>
          </a:prstGeom>
          <a:solidFill>
            <a:srgbClr val="22D3EE">
              <a:alpha val="70000"/>
            </a:srgbClr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144000" y="3840480"/>
            <a:ext cx="2011680" cy="0"/>
          </a:xfrm>
          <a:prstGeom prst="line">
            <a:avLst/>
          </a:prstGeom>
          <a:noFill/>
          <a:ln w="12700">
            <a:solidFill>
              <a:srgbClr val="2A2A38">
                <a:alpha val="90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869680" y="3977640"/>
            <a:ext cx="2514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Professional layout engine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1521440" y="6400800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1A1A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0058400" y="6400800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171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 slides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0B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A2A38">
              <a:alpha val="55000"/>
            </a:srgbClr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875520" y="-914400"/>
            <a:ext cx="3291840" cy="3291840"/>
          </a:xfrm>
          <a:prstGeom prst="ellipse">
            <a:avLst/>
          </a:prstGeom>
          <a:solidFill>
            <a:srgbClr val="22D3EE">
              <a:alpha val="16000"/>
            </a:srgbClr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731520" y="5166360"/>
            <a:ext cx="2468880" cy="2468880"/>
          </a:xfrm>
          <a:prstGeom prst="ellipse">
            <a:avLst/>
          </a:prstGeom>
          <a:solidFill>
            <a:srgbClr val="7C3AED">
              <a:alpha val="12000"/>
            </a:srgbClr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6400800"/>
            <a:ext cx="10881360" cy="0"/>
          </a:xfrm>
          <a:prstGeom prst="line">
            <a:avLst/>
          </a:prstGeom>
          <a:noFill/>
          <a:ln w="12700">
            <a:solidFill>
              <a:srgbClr val="2A2A38">
                <a:alpha val="6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21792" y="310896"/>
            <a:ext cx="1554480" cy="310896"/>
          </a:xfrm>
          <a:prstGeom prst="roundRect">
            <a:avLst>
              <a:gd name="adj" fmla="val 52941"/>
            </a:avLst>
          </a:prstGeom>
          <a:solidFill>
            <a:srgbClr val="171722"/>
          </a:solidFill>
          <a:ln w="12700">
            <a:solidFill>
              <a:srgbClr val="2A2A38">
                <a:alpha val="85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21792" y="338328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Cards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21792" y="475488"/>
            <a:ext cx="8138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Essence of Docker</a:t>
            </a:r>
            <a:endParaRPr lang="en-US" sz="2500" dirty="0"/>
          </a:p>
        </p:txBody>
      </p:sp>
      <p:sp>
        <p:nvSpPr>
          <p:cNvPr id="9" name="Shape 7"/>
          <p:cNvSpPr/>
          <p:nvPr/>
        </p:nvSpPr>
        <p:spPr>
          <a:xfrm>
            <a:off x="749808" y="1481328"/>
            <a:ext cx="5230368" cy="1783080"/>
          </a:xfrm>
          <a:prstGeom prst="roundRect">
            <a:avLst>
              <a:gd name="adj" fmla="val 9231"/>
            </a:avLst>
          </a:prstGeom>
          <a:solidFill>
            <a:srgbClr val="12121A"/>
          </a:solidFill>
          <a:ln w="12700">
            <a:solidFill>
              <a:srgbClr val="2A2A38">
                <a:alpha val="8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49808" y="1481328"/>
            <a:ext cx="5230368" cy="914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1719072"/>
            <a:ext cx="49011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Containerization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914400" y="2157984"/>
            <a:ext cx="4901184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A1A1A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Package applications and all their dependencies into a single, isolated unit.</a:t>
            </a:r>
            <a:endParaRPr lang="en-US" sz="1120" dirty="0"/>
          </a:p>
        </p:txBody>
      </p:sp>
      <p:sp>
        <p:nvSpPr>
          <p:cNvPr id="13" name="Shape 11"/>
          <p:cNvSpPr/>
          <p:nvPr/>
        </p:nvSpPr>
        <p:spPr>
          <a:xfrm>
            <a:off x="6272784" y="1481328"/>
            <a:ext cx="5230368" cy="1783080"/>
          </a:xfrm>
          <a:prstGeom prst="roundRect">
            <a:avLst>
              <a:gd name="adj" fmla="val 9231"/>
            </a:avLst>
          </a:prstGeom>
          <a:solidFill>
            <a:srgbClr val="12121A"/>
          </a:solidFill>
          <a:ln w="12700">
            <a:solidFill>
              <a:srgbClr val="2A2A38">
                <a:alpha val="8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272784" y="1481328"/>
            <a:ext cx="5230368" cy="9144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37376" y="1719072"/>
            <a:ext cx="49011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Portability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6437376" y="2157984"/>
            <a:ext cx="4901184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A1A1A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applications consistently across any environment – from development to production.</a:t>
            </a:r>
            <a:endParaRPr lang="en-US" sz="1120" dirty="0"/>
          </a:p>
        </p:txBody>
      </p:sp>
      <p:sp>
        <p:nvSpPr>
          <p:cNvPr id="17" name="Shape 15"/>
          <p:cNvSpPr/>
          <p:nvPr/>
        </p:nvSpPr>
        <p:spPr>
          <a:xfrm>
            <a:off x="749808" y="3520440"/>
            <a:ext cx="5230368" cy="1783080"/>
          </a:xfrm>
          <a:prstGeom prst="roundRect">
            <a:avLst>
              <a:gd name="adj" fmla="val 9231"/>
            </a:avLst>
          </a:prstGeom>
          <a:solidFill>
            <a:srgbClr val="12121A"/>
          </a:solidFill>
          <a:ln w="12700">
            <a:solidFill>
              <a:srgbClr val="2A2A38">
                <a:alpha val="85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49808" y="3520440"/>
            <a:ext cx="5230368" cy="914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4400" y="3758184"/>
            <a:ext cx="49011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Isolation</a:t>
            </a:r>
            <a:endParaRPr lang="en-US" sz="1550" dirty="0"/>
          </a:p>
        </p:txBody>
      </p:sp>
      <p:sp>
        <p:nvSpPr>
          <p:cNvPr id="20" name="Text 18"/>
          <p:cNvSpPr/>
          <p:nvPr/>
        </p:nvSpPr>
        <p:spPr>
          <a:xfrm>
            <a:off x="914400" y="4197096"/>
            <a:ext cx="4901184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A1A1A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Ensure applications run securely and independently, preventing conflicts.</a:t>
            </a:r>
            <a:endParaRPr lang="en-US" sz="1120" dirty="0"/>
          </a:p>
        </p:txBody>
      </p:sp>
      <p:sp>
        <p:nvSpPr>
          <p:cNvPr id="21" name="Text 19"/>
          <p:cNvSpPr/>
          <p:nvPr/>
        </p:nvSpPr>
        <p:spPr>
          <a:xfrm>
            <a:off x="11521440" y="6400800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1A1A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0058400" y="6400800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171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 slides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0B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A2A38">
              <a:alpha val="55000"/>
            </a:srgbClr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875520" y="-914400"/>
            <a:ext cx="3291840" cy="3291840"/>
          </a:xfrm>
          <a:prstGeom prst="ellipse">
            <a:avLst/>
          </a:prstGeom>
          <a:solidFill>
            <a:srgbClr val="22D3EE">
              <a:alpha val="16000"/>
            </a:srgbClr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731520" y="5166360"/>
            <a:ext cx="2468880" cy="2468880"/>
          </a:xfrm>
          <a:prstGeom prst="ellipse">
            <a:avLst/>
          </a:prstGeom>
          <a:solidFill>
            <a:srgbClr val="7C3AED">
              <a:alpha val="12000"/>
            </a:srgbClr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6400800"/>
            <a:ext cx="10881360" cy="0"/>
          </a:xfrm>
          <a:prstGeom prst="line">
            <a:avLst/>
          </a:prstGeom>
          <a:noFill/>
          <a:ln w="12700">
            <a:solidFill>
              <a:srgbClr val="2A2A38">
                <a:alpha val="6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21792" y="310896"/>
            <a:ext cx="1554480" cy="310896"/>
          </a:xfrm>
          <a:prstGeom prst="roundRect">
            <a:avLst>
              <a:gd name="adj" fmla="val 52941"/>
            </a:avLst>
          </a:prstGeom>
          <a:solidFill>
            <a:srgbClr val="171722"/>
          </a:solidFill>
          <a:ln w="12700">
            <a:solidFill>
              <a:srgbClr val="2A2A38">
                <a:alpha val="85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21792" y="338328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Diagram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21792" y="475488"/>
            <a:ext cx="8138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Docker Engine: Core Components</a:t>
            </a:r>
            <a:endParaRPr lang="en-US" sz="2500" dirty="0"/>
          </a:p>
        </p:txBody>
      </p:sp>
      <p:sp>
        <p:nvSpPr>
          <p:cNvPr id="9" name="Shape 7"/>
          <p:cNvSpPr/>
          <p:nvPr/>
        </p:nvSpPr>
        <p:spPr>
          <a:xfrm>
            <a:off x="1229868" y="3383280"/>
            <a:ext cx="1554480" cy="685800"/>
          </a:xfrm>
          <a:prstGeom prst="roundRect">
            <a:avLst>
              <a:gd name="adj" fmla="val 24000"/>
            </a:avLst>
          </a:prstGeom>
          <a:solidFill>
            <a:srgbClr val="12121A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75588" y="3520440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Docker Client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90288" y="3383280"/>
            <a:ext cx="1554480" cy="685800"/>
          </a:xfrm>
          <a:prstGeom prst="roundRect">
            <a:avLst>
              <a:gd name="adj" fmla="val 24000"/>
            </a:avLst>
          </a:prstGeom>
          <a:solidFill>
            <a:srgbClr val="12121A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36008" y="3520440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Docker Daemon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10828" y="2340864"/>
            <a:ext cx="1554480" cy="685800"/>
          </a:xfrm>
          <a:prstGeom prst="rect">
            <a:avLst>
              <a:gd name="adj" fmla="val 24000"/>
            </a:avLst>
          </a:prstGeom>
          <a:solidFill>
            <a:srgbClr val="12121A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956548" y="2478024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Docker Registry (e.g., Docker Hub)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510528" y="4078224"/>
            <a:ext cx="1554480" cy="685800"/>
          </a:xfrm>
          <a:prstGeom prst="rect">
            <a:avLst>
              <a:gd name="adj" fmla="val 24000"/>
            </a:avLst>
          </a:prstGeom>
          <a:solidFill>
            <a:srgbClr val="12121A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56248" y="4215384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Docker Images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670048" y="4078224"/>
            <a:ext cx="1554480" cy="685800"/>
          </a:xfrm>
          <a:prstGeom prst="roundRect">
            <a:avLst>
              <a:gd name="adj" fmla="val 24000"/>
            </a:avLst>
          </a:prstGeom>
          <a:solidFill>
            <a:srgbClr val="12121A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715768" y="4215384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Docker Containers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784348" y="3726180"/>
            <a:ext cx="1805940" cy="0"/>
          </a:xfrm>
          <a:prstGeom prst="line">
            <a:avLst/>
          </a:prstGeom>
          <a:noFill/>
          <a:ln w="12700">
            <a:solidFill>
              <a:srgbClr val="A1A1AA">
                <a:alpha val="70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955798" y="358902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A1A1A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Commands (build, run, pull)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367528" y="3383280"/>
            <a:ext cx="4320540" cy="0"/>
          </a:xfrm>
          <a:prstGeom prst="line">
            <a:avLst/>
          </a:prstGeom>
          <a:noFill/>
          <a:ln w="12700">
            <a:solidFill>
              <a:srgbClr val="A1A1AA">
                <a:alpha val="7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688068" y="3026664"/>
            <a:ext cx="0" cy="356616"/>
          </a:xfrm>
          <a:prstGeom prst="line">
            <a:avLst/>
          </a:prstGeom>
          <a:noFill/>
          <a:ln w="12700">
            <a:solidFill>
              <a:srgbClr val="A1A1AA">
                <a:alpha val="70000"/>
              </a:srgbClr>
            </a:solidFill>
            <a:prstDash val="solid"/>
            <a:tailEnd type="triangle"/>
          </a:ln>
        </p:spPr>
      </p:sp>
      <p:sp>
        <p:nvSpPr>
          <p:cNvPr id="23" name="Text 21"/>
          <p:cNvSpPr/>
          <p:nvPr/>
        </p:nvSpPr>
        <p:spPr>
          <a:xfrm>
            <a:off x="6796278" y="306781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A1A1A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Pull/Push Images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5367528" y="4069080"/>
            <a:ext cx="1920240" cy="0"/>
          </a:xfrm>
          <a:prstGeom prst="line">
            <a:avLst/>
          </a:prstGeom>
          <a:noFill/>
          <a:ln w="12700">
            <a:solidFill>
              <a:srgbClr val="A1A1AA">
                <a:alpha val="70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596128" y="393649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A1A1A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Manages Images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3447288" y="4069080"/>
            <a:ext cx="1920240" cy="0"/>
          </a:xfrm>
          <a:prstGeom prst="line">
            <a:avLst/>
          </a:prstGeom>
          <a:noFill/>
          <a:ln w="12700">
            <a:solidFill>
              <a:srgbClr val="A1A1AA">
                <a:alpha val="70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75888" y="393649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A1A1A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Creates/Runs Containers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4224528" y="4421124"/>
            <a:ext cx="2286000" cy="0"/>
          </a:xfrm>
          <a:prstGeom prst="line">
            <a:avLst/>
          </a:prstGeom>
          <a:noFill/>
          <a:ln w="12700">
            <a:solidFill>
              <a:srgbClr val="A1A1AA">
                <a:alpha val="70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636008" y="428396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A1A1A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Container based on Image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11521440" y="6400800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1A1A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0058400" y="6400800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171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 slides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0B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A2A38">
              <a:alpha val="55000"/>
            </a:srgbClr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875520" y="-914400"/>
            <a:ext cx="3291840" cy="3291840"/>
          </a:xfrm>
          <a:prstGeom prst="ellipse">
            <a:avLst/>
          </a:prstGeom>
          <a:solidFill>
            <a:srgbClr val="22D3EE">
              <a:alpha val="16000"/>
            </a:srgbClr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731520" y="5166360"/>
            <a:ext cx="2468880" cy="2468880"/>
          </a:xfrm>
          <a:prstGeom prst="ellipse">
            <a:avLst/>
          </a:prstGeom>
          <a:solidFill>
            <a:srgbClr val="7C3AED">
              <a:alpha val="12000"/>
            </a:srgbClr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6400800"/>
            <a:ext cx="10881360" cy="0"/>
          </a:xfrm>
          <a:prstGeom prst="line">
            <a:avLst/>
          </a:prstGeom>
          <a:noFill/>
          <a:ln w="12700">
            <a:solidFill>
              <a:srgbClr val="2A2A38">
                <a:alpha val="6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21792" y="310896"/>
            <a:ext cx="1554480" cy="310896"/>
          </a:xfrm>
          <a:prstGeom prst="roundRect">
            <a:avLst>
              <a:gd name="adj" fmla="val 52941"/>
            </a:avLst>
          </a:prstGeom>
          <a:solidFill>
            <a:srgbClr val="171722"/>
          </a:solidFill>
          <a:ln w="12700">
            <a:solidFill>
              <a:srgbClr val="2A2A38">
                <a:alpha val="85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21792" y="338328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Visual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21792" y="475488"/>
            <a:ext cx="8138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Docker Images: The Application Blueprint</a:t>
            </a:r>
            <a:endParaRPr lang="en-US" sz="2500" dirty="0"/>
          </a:p>
        </p:txBody>
      </p:sp>
      <p:sp>
        <p:nvSpPr>
          <p:cNvPr id="9" name="Text 7"/>
          <p:cNvSpPr/>
          <p:nvPr/>
        </p:nvSpPr>
        <p:spPr>
          <a:xfrm>
            <a:off x="621792" y="1115568"/>
            <a:ext cx="7955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A1A1A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Docker Images are immutable, read-only templates containing everything needed to run an application.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749808" y="1572768"/>
            <a:ext cx="4572000" cy="4160520"/>
          </a:xfrm>
          <a:prstGeom prst="roundRect">
            <a:avLst>
              <a:gd name="adj" fmla="val 3956"/>
            </a:avLst>
          </a:prstGeom>
          <a:solidFill>
            <a:srgbClr val="12121A"/>
          </a:solidFill>
          <a:ln w="12700">
            <a:solidFill>
              <a:srgbClr val="2A2A38">
                <a:alpha val="8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596128" y="1572768"/>
            <a:ext cx="5486400" cy="4160520"/>
          </a:xfrm>
          <a:prstGeom prst="roundRect">
            <a:avLst>
              <a:gd name="adj" fmla="val 3956"/>
            </a:avLst>
          </a:prstGeom>
          <a:solidFill>
            <a:srgbClr val="171722"/>
          </a:solidFill>
          <a:ln w="12700">
            <a:solidFill>
              <a:srgbClr val="2A2A38">
                <a:alpha val="85000"/>
              </a:srgbClr>
            </a:solidFill>
            <a:prstDash val="solid"/>
          </a:ln>
        </p:spPr>
      </p:sp>
      <p:pic>
        <p:nvPicPr>
          <p:cNvPr id="12" name="Image 0" descr="https://upload.wikimedia.org/wikipedia/commons/thumb/e/e0/Docker_image_layers.svg/1200px-Docker_image_layers.sv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783080"/>
            <a:ext cx="4160520" cy="374904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5870448" y="5257800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i="1" dirty="0">
                <a:solidFill>
                  <a:srgbClr val="7171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Diagram showing Docker image layers</a:t>
            </a:r>
            <a:endParaRPr lang="en-US" sz="880" dirty="0"/>
          </a:p>
        </p:txBody>
      </p:sp>
      <p:sp>
        <p:nvSpPr>
          <p:cNvPr id="14" name="Text 11"/>
          <p:cNvSpPr/>
          <p:nvPr/>
        </p:nvSpPr>
        <p:spPr>
          <a:xfrm>
            <a:off x="11521440" y="6400800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1A1A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10058400" y="6400800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171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 slides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0B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A2A38">
              <a:alpha val="55000"/>
            </a:srgbClr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875520" y="-914400"/>
            <a:ext cx="3291840" cy="3291840"/>
          </a:xfrm>
          <a:prstGeom prst="ellipse">
            <a:avLst/>
          </a:prstGeom>
          <a:solidFill>
            <a:srgbClr val="22D3EE">
              <a:alpha val="16000"/>
            </a:srgbClr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731520" y="5166360"/>
            <a:ext cx="2468880" cy="2468880"/>
          </a:xfrm>
          <a:prstGeom prst="ellipse">
            <a:avLst/>
          </a:prstGeom>
          <a:solidFill>
            <a:srgbClr val="7C3AED">
              <a:alpha val="12000"/>
            </a:srgbClr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6400800"/>
            <a:ext cx="10881360" cy="0"/>
          </a:xfrm>
          <a:prstGeom prst="line">
            <a:avLst/>
          </a:prstGeom>
          <a:noFill/>
          <a:ln w="12700">
            <a:solidFill>
              <a:srgbClr val="2A2A38">
                <a:alpha val="6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21792" y="310896"/>
            <a:ext cx="1554480" cy="310896"/>
          </a:xfrm>
          <a:prstGeom prst="roundRect">
            <a:avLst>
              <a:gd name="adj" fmla="val 52941"/>
            </a:avLst>
          </a:prstGeom>
          <a:solidFill>
            <a:srgbClr val="171722"/>
          </a:solidFill>
          <a:ln w="12700">
            <a:solidFill>
              <a:srgbClr val="2A2A38">
                <a:alpha val="85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21792" y="338328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Process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21792" y="475488"/>
            <a:ext cx="8138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Docker Containers: Isolated Runtime Environments</a:t>
            </a:r>
            <a:endParaRPr lang="en-US" sz="2500" dirty="0"/>
          </a:p>
        </p:txBody>
      </p:sp>
      <p:sp>
        <p:nvSpPr>
          <p:cNvPr id="9" name="Shape 7"/>
          <p:cNvSpPr/>
          <p:nvPr/>
        </p:nvSpPr>
        <p:spPr>
          <a:xfrm>
            <a:off x="749808" y="1828800"/>
            <a:ext cx="3337560" cy="3291840"/>
          </a:xfrm>
          <a:prstGeom prst="roundRect">
            <a:avLst>
              <a:gd name="adj" fmla="val 5000"/>
            </a:avLst>
          </a:prstGeom>
          <a:solidFill>
            <a:srgbClr val="12121A"/>
          </a:solidFill>
          <a:ln w="12700">
            <a:solidFill>
              <a:srgbClr val="2A2A3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49808" y="1828800"/>
            <a:ext cx="3337560" cy="7315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86968" y="2011680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C3AE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01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86968" y="2377440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Image as Base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86968" y="3063240"/>
            <a:ext cx="30632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A1A1A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Containers are created from Docker Images, inheriting their defined environment.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087368" y="3474720"/>
            <a:ext cx="320040" cy="0"/>
          </a:xfrm>
          <a:prstGeom prst="line">
            <a:avLst/>
          </a:prstGeom>
          <a:noFill/>
          <a:ln w="12700">
            <a:solidFill>
              <a:srgbClr val="22D3EE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4407408" y="1828800"/>
            <a:ext cx="3337560" cy="3291840"/>
          </a:xfrm>
          <a:prstGeom prst="roundRect">
            <a:avLst>
              <a:gd name="adj" fmla="val 5000"/>
            </a:avLst>
          </a:prstGeom>
          <a:solidFill>
            <a:srgbClr val="12121A"/>
          </a:solidFill>
          <a:ln w="12700">
            <a:solidFill>
              <a:srgbClr val="2A2A3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407408" y="1828800"/>
            <a:ext cx="3337560" cy="73152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44568" y="2011680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D3E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02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544568" y="2377440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Isolated Process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544568" y="3063240"/>
            <a:ext cx="30632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A1A1A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Each container runs as an isolated process on the host OS, with its own filesystem, network, and process space.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7744968" y="3474720"/>
            <a:ext cx="320040" cy="0"/>
          </a:xfrm>
          <a:prstGeom prst="line">
            <a:avLst/>
          </a:prstGeom>
          <a:noFill/>
          <a:ln w="12700">
            <a:solidFill>
              <a:srgbClr val="22D3EE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8065008" y="1828800"/>
            <a:ext cx="3337560" cy="3291840"/>
          </a:xfrm>
          <a:prstGeom prst="roundRect">
            <a:avLst>
              <a:gd name="adj" fmla="val 5000"/>
            </a:avLst>
          </a:prstGeom>
          <a:solidFill>
            <a:srgbClr val="12121A"/>
          </a:solidFill>
          <a:ln w="12700">
            <a:solidFill>
              <a:srgbClr val="2A2A3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065008" y="1828800"/>
            <a:ext cx="3337560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02168" y="2011680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03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8202168" y="2377440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Ephemeral &amp; Portable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8202168" y="3063240"/>
            <a:ext cx="30632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A1A1A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Containers can be easily started, stopped, moved, and deleted, ensuring high portability and resource efficiency.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11521440" y="6400800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1A1A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0058400" y="6400800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171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 slides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0B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A2A38">
              <a:alpha val="55000"/>
            </a:srgbClr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875520" y="-914400"/>
            <a:ext cx="3291840" cy="3291840"/>
          </a:xfrm>
          <a:prstGeom prst="ellipse">
            <a:avLst/>
          </a:prstGeom>
          <a:solidFill>
            <a:srgbClr val="22D3EE">
              <a:alpha val="16000"/>
            </a:srgbClr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731520" y="5166360"/>
            <a:ext cx="2468880" cy="2468880"/>
          </a:xfrm>
          <a:prstGeom prst="ellipse">
            <a:avLst/>
          </a:prstGeom>
          <a:solidFill>
            <a:srgbClr val="7C3AED">
              <a:alpha val="12000"/>
            </a:srgbClr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6400800"/>
            <a:ext cx="10881360" cy="0"/>
          </a:xfrm>
          <a:prstGeom prst="line">
            <a:avLst/>
          </a:prstGeom>
          <a:noFill/>
          <a:ln w="12700">
            <a:solidFill>
              <a:srgbClr val="2A2A38">
                <a:alpha val="6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21792" y="310896"/>
            <a:ext cx="1554480" cy="310896"/>
          </a:xfrm>
          <a:prstGeom prst="roundRect">
            <a:avLst>
              <a:gd name="adj" fmla="val 52941"/>
            </a:avLst>
          </a:prstGeom>
          <a:solidFill>
            <a:srgbClr val="171722"/>
          </a:solidFill>
          <a:ln w="12700">
            <a:solidFill>
              <a:srgbClr val="2A2A38">
                <a:alpha val="85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21792" y="338328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Process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21792" y="475488"/>
            <a:ext cx="8138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Docker Workflow: Build, Pull, Run</a:t>
            </a:r>
            <a:endParaRPr lang="en-US" sz="2500" dirty="0"/>
          </a:p>
        </p:txBody>
      </p:sp>
      <p:sp>
        <p:nvSpPr>
          <p:cNvPr id="9" name="Shape 7"/>
          <p:cNvSpPr/>
          <p:nvPr/>
        </p:nvSpPr>
        <p:spPr>
          <a:xfrm>
            <a:off x="749808" y="1828800"/>
            <a:ext cx="3337560" cy="3291840"/>
          </a:xfrm>
          <a:prstGeom prst="roundRect">
            <a:avLst>
              <a:gd name="adj" fmla="val 5000"/>
            </a:avLst>
          </a:prstGeom>
          <a:solidFill>
            <a:srgbClr val="12121A"/>
          </a:solidFill>
          <a:ln w="12700">
            <a:solidFill>
              <a:srgbClr val="2A2A3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49808" y="1828800"/>
            <a:ext cx="3337560" cy="7315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86968" y="2011680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C3AE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01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86968" y="2377440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Build Images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86968" y="3063240"/>
            <a:ext cx="30632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A1A1A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a Dockerfile to define application dependencies and environment, then build it into a Docker Image.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087368" y="3474720"/>
            <a:ext cx="320040" cy="0"/>
          </a:xfrm>
          <a:prstGeom prst="line">
            <a:avLst/>
          </a:prstGeom>
          <a:noFill/>
          <a:ln w="12700">
            <a:solidFill>
              <a:srgbClr val="22D3EE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4407408" y="1828800"/>
            <a:ext cx="3337560" cy="3291840"/>
          </a:xfrm>
          <a:prstGeom prst="roundRect">
            <a:avLst>
              <a:gd name="adj" fmla="val 5000"/>
            </a:avLst>
          </a:prstGeom>
          <a:solidFill>
            <a:srgbClr val="12121A"/>
          </a:solidFill>
          <a:ln w="12700">
            <a:solidFill>
              <a:srgbClr val="2A2A3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407408" y="1828800"/>
            <a:ext cx="3337560" cy="73152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44568" y="2011680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D3E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02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544568" y="2377440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Pull/Push to Registry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544568" y="3063240"/>
            <a:ext cx="30632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A1A1A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Share or retrieve Images from a Docker Registry (e.g., Docker Hub) for collaboration and distribution.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7744968" y="3474720"/>
            <a:ext cx="320040" cy="0"/>
          </a:xfrm>
          <a:prstGeom prst="line">
            <a:avLst/>
          </a:prstGeom>
          <a:noFill/>
          <a:ln w="12700">
            <a:solidFill>
              <a:srgbClr val="22D3EE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8065008" y="1828800"/>
            <a:ext cx="3337560" cy="3291840"/>
          </a:xfrm>
          <a:prstGeom prst="roundRect">
            <a:avLst>
              <a:gd name="adj" fmla="val 5000"/>
            </a:avLst>
          </a:prstGeom>
          <a:solidFill>
            <a:srgbClr val="12121A"/>
          </a:solidFill>
          <a:ln w="12700">
            <a:solidFill>
              <a:srgbClr val="2A2A3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065008" y="1828800"/>
            <a:ext cx="3337560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02168" y="2011680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03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8202168" y="2377440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Run Containers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8202168" y="3063240"/>
            <a:ext cx="30632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A1A1A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Instantiate an Image into a running Container, providing an isolated and consistent environment for your application.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11521440" y="6400800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1A1A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0058400" y="6400800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171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 slides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0B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A2A38">
              <a:alpha val="55000"/>
            </a:srgbClr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875520" y="-914400"/>
            <a:ext cx="3291840" cy="3291840"/>
          </a:xfrm>
          <a:prstGeom prst="ellipse">
            <a:avLst/>
          </a:prstGeom>
          <a:solidFill>
            <a:srgbClr val="22D3EE">
              <a:alpha val="16000"/>
            </a:srgbClr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731520" y="5166360"/>
            <a:ext cx="2468880" cy="2468880"/>
          </a:xfrm>
          <a:prstGeom prst="ellipse">
            <a:avLst/>
          </a:prstGeom>
          <a:solidFill>
            <a:srgbClr val="7C3AED">
              <a:alpha val="12000"/>
            </a:srgbClr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6400800"/>
            <a:ext cx="10881360" cy="0"/>
          </a:xfrm>
          <a:prstGeom prst="line">
            <a:avLst/>
          </a:prstGeom>
          <a:noFill/>
          <a:ln w="12700">
            <a:solidFill>
              <a:srgbClr val="2A2A38">
                <a:alpha val="6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21792" y="310896"/>
            <a:ext cx="1554480" cy="310896"/>
          </a:xfrm>
          <a:prstGeom prst="roundRect">
            <a:avLst>
              <a:gd name="adj" fmla="val 52941"/>
            </a:avLst>
          </a:prstGeom>
          <a:solidFill>
            <a:srgbClr val="171722"/>
          </a:solidFill>
          <a:ln w="12700">
            <a:solidFill>
              <a:srgbClr val="2A2A38">
                <a:alpha val="85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21792" y="338328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Summary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21792" y="475488"/>
            <a:ext cx="8138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Why Docker Matters: Key Benefits</a:t>
            </a:r>
            <a:endParaRPr lang="en-US" sz="2500" dirty="0"/>
          </a:p>
        </p:txBody>
      </p:sp>
      <p:sp>
        <p:nvSpPr>
          <p:cNvPr id="9" name="Shape 7"/>
          <p:cNvSpPr/>
          <p:nvPr/>
        </p:nvSpPr>
        <p:spPr>
          <a:xfrm>
            <a:off x="749808" y="1481328"/>
            <a:ext cx="10652760" cy="4315968"/>
          </a:xfrm>
          <a:prstGeom prst="roundRect">
            <a:avLst>
              <a:gd name="adj" fmla="val 3814"/>
            </a:avLst>
          </a:prstGeom>
          <a:solidFill>
            <a:srgbClr val="171722"/>
          </a:solidFill>
          <a:ln w="12700">
            <a:solidFill>
              <a:srgbClr val="2A2A38">
                <a:alpha val="8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49808" y="1481328"/>
            <a:ext cx="10652760" cy="914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69848" y="1965960"/>
            <a:ext cx="182880" cy="182880"/>
          </a:xfrm>
          <a:prstGeom prst="ellipse">
            <a:avLst/>
          </a:prstGeom>
          <a:solidFill>
            <a:srgbClr val="12121A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69848" y="1938528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0B9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1435608" y="1892808"/>
            <a:ext cx="9646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Consistency</a:t>
            </a:r>
            <a:pPr indent="0" marL="0">
              <a:buNone/>
            </a:pPr>
            <a:r>
              <a:rPr lang="en-US" sz="135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: Eliminates 'works on my machine' issues by packaging everything together.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1069848" y="2606040"/>
            <a:ext cx="182880" cy="182880"/>
          </a:xfrm>
          <a:prstGeom prst="ellipse">
            <a:avLst/>
          </a:prstGeom>
          <a:solidFill>
            <a:srgbClr val="12121A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69848" y="2578608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0B9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1435608" y="2532888"/>
            <a:ext cx="9646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Efficiency</a:t>
            </a:r>
            <a:pPr indent="0" marL="0">
              <a:buNone/>
            </a:pPr>
            <a:r>
              <a:rPr lang="en-US" sz="135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: Faster startup, better resource utilization, and streamlined development cycles.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1069848" y="3246120"/>
            <a:ext cx="182880" cy="182880"/>
          </a:xfrm>
          <a:prstGeom prst="ellipse">
            <a:avLst/>
          </a:prstGeom>
          <a:solidFill>
            <a:srgbClr val="12121A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69848" y="3218688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0B9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1435608" y="3172968"/>
            <a:ext cx="9646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Portability</a:t>
            </a:r>
            <a:pPr indent="0" marL="0">
              <a:buNone/>
            </a:pPr>
            <a:r>
              <a:rPr lang="en-US" sz="135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: Applications run identically across any infrastructure, from local dev to cloud.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1069848" y="3886200"/>
            <a:ext cx="182880" cy="182880"/>
          </a:xfrm>
          <a:prstGeom prst="ellipse">
            <a:avLst/>
          </a:prstGeom>
          <a:solidFill>
            <a:srgbClr val="12121A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69848" y="3858768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0B9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1435608" y="3813048"/>
            <a:ext cx="9646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Scalability</a:t>
            </a:r>
            <a:pPr indent="0" marL="0">
              <a:buNone/>
            </a:pPr>
            <a:r>
              <a:rPr lang="en-US" sz="135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: Easy to deploy, scale, and manage applications in microservices architectures.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11521440" y="6400800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1A1A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0058400" y="6400800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171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 slides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841248" y="5440680"/>
            <a:ext cx="10469880" cy="548640"/>
          </a:xfrm>
          <a:prstGeom prst="roundRect">
            <a:avLst>
              <a:gd name="adj" fmla="val 30000"/>
            </a:avLst>
          </a:prstGeom>
          <a:solidFill>
            <a:srgbClr val="12121A"/>
          </a:solidFill>
          <a:ln w="12700">
            <a:solidFill>
              <a:srgbClr val="2A2A38">
                <a:alpha val="85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05840" y="5623560"/>
            <a:ext cx="9875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171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Layouts used: title • cards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Chaos Engine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Understanding Docker: Containerization Explained</dc:title>
  <dc:subject>Understanding Docker: Containerization Explained</dc:subject>
  <dc:creator>Chaos Engine</dc:creator>
  <cp:lastModifiedBy>Chaos Engine</cp:lastModifiedBy>
  <cp:revision>1</cp:revision>
  <dcterms:created xsi:type="dcterms:W3CDTF">2026-08-16T06:03:58Z</dcterms:created>
  <dcterms:modified xsi:type="dcterms:W3CDTF">2026-08-16T06:03:58Z</dcterms:modified>
</cp:coreProperties>
</file>